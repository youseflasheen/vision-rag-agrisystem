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10"/>
  </p:normalViewPr>
  <p:slideViewPr>
    <p:cSldViewPr snapToGrid="0" snapToObjects="1">
      <p:cViewPr>
        <p:scale>
          <a:sx n="157" d="100"/>
          <a:sy n="157" d="100"/>
        </p:scale>
        <p:origin x="1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Intervention</c:v>
                </c:pt>
              </c:strCache>
            </c:strRef>
          </c:tx>
          <c:spPr>
            <a:ln w="31750" cap="flat" cmpd="sng" algn="ctr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444"/>
              </a:solidFill>
              <a:ln w="9525" cap="flat" cmpd="sng" algn="ctr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D0</c:v>
                </c:pt>
                <c:pt idx="1">
                  <c:v>D5</c:v>
                </c:pt>
                <c:pt idx="2">
                  <c:v>D10</c:v>
                </c:pt>
                <c:pt idx="3">
                  <c:v>D15</c:v>
                </c:pt>
                <c:pt idx="4">
                  <c:v>D20</c:v>
                </c:pt>
                <c:pt idx="5">
                  <c:v>D25</c:v>
                </c:pt>
                <c:pt idx="6">
                  <c:v>D30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18</c:v>
                </c:pt>
                <c:pt idx="2">
                  <c:v>58</c:v>
                </c:pt>
                <c:pt idx="3">
                  <c:v>118</c:v>
                </c:pt>
                <c:pt idx="4">
                  <c:v>196</c:v>
                </c:pt>
                <c:pt idx="5">
                  <c:v>270</c:v>
                </c:pt>
                <c:pt idx="6">
                  <c:v>340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D569-4771-A628-9ACEF46E10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Pesticide</c:v>
                </c:pt>
              </c:strCache>
            </c:strRef>
          </c:tx>
          <c:spPr>
            <a:ln w="31750" cap="flat" cmpd="sng" algn="ctr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 cmpd="sng" algn="ctr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D0</c:v>
                </c:pt>
                <c:pt idx="1">
                  <c:v>D5</c:v>
                </c:pt>
                <c:pt idx="2">
                  <c:v>D10</c:v>
                </c:pt>
                <c:pt idx="3">
                  <c:v>D15</c:v>
                </c:pt>
                <c:pt idx="4">
                  <c:v>D20</c:v>
                </c:pt>
                <c:pt idx="5">
                  <c:v>D25</c:v>
                </c:pt>
                <c:pt idx="6">
                  <c:v>D30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</c:v>
                </c:pt>
                <c:pt idx="1">
                  <c:v>8</c:v>
                </c:pt>
                <c:pt idx="2">
                  <c:v>20</c:v>
                </c:pt>
                <c:pt idx="3">
                  <c:v>38</c:v>
                </c:pt>
                <c:pt idx="4">
                  <c:v>62</c:v>
                </c:pt>
                <c:pt idx="5">
                  <c:v>85</c:v>
                </c:pt>
                <c:pt idx="6">
                  <c:v>110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F-D569-4771-A628-9ACEF46E10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Quarantine</c:v>
                </c:pt>
              </c:strCache>
            </c:strRef>
          </c:tx>
          <c:spPr>
            <a:ln w="31750" cap="flat" cmpd="sng" algn="ctr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C55E"/>
              </a:solidFill>
              <a:ln w="9525" cap="flat" cmpd="sng" algn="ctr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D0</c:v>
                </c:pt>
                <c:pt idx="1">
                  <c:v>D5</c:v>
                </c:pt>
                <c:pt idx="2">
                  <c:v>D10</c:v>
                </c:pt>
                <c:pt idx="3">
                  <c:v>D15</c:v>
                </c:pt>
                <c:pt idx="4">
                  <c:v>D20</c:v>
                </c:pt>
                <c:pt idx="5">
                  <c:v>D25</c:v>
                </c:pt>
                <c:pt idx="6">
                  <c:v>D30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</c:v>
                </c:pt>
                <c:pt idx="1">
                  <c:v>5</c:v>
                </c:pt>
                <c:pt idx="2">
                  <c:v>12</c:v>
                </c:pt>
                <c:pt idx="3">
                  <c:v>22</c:v>
                </c:pt>
                <c:pt idx="4">
                  <c:v>38</c:v>
                </c:pt>
                <c:pt idx="5">
                  <c:v>58</c:v>
                </c:pt>
                <c:pt idx="6">
                  <c:v>82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7-D569-4771-A628-9ACEF46E1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c30ab908-c8b4-404b-b3bd-2dd8390dfdf2}"/>
      </c:ext>
    </c:extLst>
  </c:chart>
  <c:spPr>
    <a:solidFill>
      <a:srgbClr val="111F3A"/>
    </a:solidFill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AgriVision AI is a Vision-RAG system for precision crop disease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sections from problem to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critical gaps: hallucination and the action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Unified pipeline coupling vision, RAG, simulation, and DSS.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FastAPI orchestrates vision, RAG, simulation, and DSS. Farmer interacts via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of PlantVillage (lab) and PlantDoc (field) for robust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Conditional DCGAN addresses 36x class imbalance by generating synthetic leaf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ResNet-50 with custom head achieves 90.91% validation accuracy on 21-class hybrid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ChromaDB retrieval before LLM call guarantees zero-hallucination treatment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intervention scenarios simulated over 30 days on 20x20 farm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Weighted multi-criteria DSS ranks interventions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Premium dark glassmorphism dashboard with six tabs covering all pipeline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case studies confirm the full pipeline works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challenge had a principled engineering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roadmap from short-term additions to long-term research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AgriVision AI bridges the two critical gaps in agricultural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65760" y="502920"/>
            <a:ext cx="6400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🌿 AgriVision AI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365760" y="1371600"/>
            <a:ext cx="77724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Vision-RAG Decision Support System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Precision Crop Disease Diagnosis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365760" y="2286000"/>
            <a:ext cx="50292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65760" y="2468880"/>
            <a:ext cx="4463415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Applications — Final Project  |  Spring 2026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Ashraf Ghonim 225115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Akram Mohamed 225186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Yousef Lasheen 225222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Mostafa Mohamed 225268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Abdelrahman Ahmed 225277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3429000"/>
            <a:ext cx="7315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 </a:t>
            </a: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Mohammed Al-Gunaid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Ph.D. | Associate Professor · Egyptian Russian University (ERU)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37160" y="4453128"/>
            <a:ext cx="8869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github.com/youseflasheen/Vision-RAG-AgriSystem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11480" y="868680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868680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86868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914400" y="86868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Motivation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1307592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1480" y="1307592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130759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1307592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1746504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11480" y="1746504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1480" y="1746504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1746504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Data Pipeline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2185416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11480" y="2185416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11480" y="2185416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14400" y="2185416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Model (ResNet-50)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11480" y="2624328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11480" y="2624328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11480" y="2624328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14400" y="2624328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 Augmentation (DCGAN)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11480" y="3063240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411480" y="3063240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11480" y="306324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4400" y="306324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Pipeline (ChromaDB + Llama 3.3)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663440" y="868680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663440" y="868680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663440" y="86868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66360" y="86868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SIR Simulation Engine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663440" y="1307592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4663440" y="1307592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663440" y="130759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66360" y="1307592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Support System (DSS)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663440" y="1746504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4663440" y="1746504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663440" y="1746504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166360" y="1746504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UI — Streamlit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663440" y="2185416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663440" y="2185416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663440" y="2185416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5166360" y="2185416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Case Studies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663440" y="2624328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663440" y="2624328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663440" y="2624328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166360" y="2624328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Solutions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663440" y="3063240"/>
            <a:ext cx="4023360" cy="34747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4663440" y="3063240"/>
            <a:ext cx="45720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663440" y="306324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166360" y="3063240"/>
            <a:ext cx="3474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 &amp;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Two Gaps in Agricultural AI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11480" y="822960"/>
            <a:ext cx="3931920" cy="1965960"/>
          </a:xfrm>
          <a:prstGeom prst="rect">
            <a:avLst/>
          </a:prstGeom>
          <a:solidFill>
            <a:srgbClr val="111F3A"/>
          </a:solidFill>
          <a:ln w="2540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822960"/>
            <a:ext cx="39319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5039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822960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1 — THE HALLUCINATION PROBLEM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02920" y="1261872"/>
            <a:ext cx="374904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"Apply 5mL/L of Fungicide X"
</a:t>
            </a: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Fungicide X doesn't exist at that concentration
</a:t>
            </a: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LLMs generate </a:t>
            </a:r>
            <a:r>
              <a:rPr lang="en-US" sz="12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chemically incorrect</a:t>
            </a: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treatment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recommendations for crop diseases.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800600" y="822960"/>
            <a:ext cx="3931920" cy="1965960"/>
          </a:xfrm>
          <a:prstGeom prst="rect">
            <a:avLst/>
          </a:prstGeom>
          <a:solidFill>
            <a:srgbClr val="111F3A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4800600" y="822960"/>
            <a:ext cx="3931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8503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12080" y="822960"/>
            <a:ext cx="3474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2 — THE ACTION GAP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892040" y="1261872"/>
            <a:ext cx="374904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"Tomato Early Blight — 94% confidence"
</a:t>
            </a: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❓ "Now what do I do?"
</a:t>
            </a: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 classification without actionable intervention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plans leaves farmers with diagnosis but no treatment path.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11480" y="2971800"/>
            <a:ext cx="8321040" cy="914400"/>
          </a:xfrm>
          <a:prstGeom prst="rect">
            <a:avLst/>
          </a:prstGeom>
          <a:solidFill>
            <a:srgbClr val="0D1A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594360" y="3090672"/>
            <a:ext cx="1097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🌍  Impact: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691640" y="3090672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30–40% annual crop losses from plant diseases globally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94360" y="3456432"/>
            <a:ext cx="8046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Mohanty et al. (2016), Frontiers in Plant Science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583680" y="2971800"/>
            <a:ext cx="2011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30–40%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AgriVision AI — Proposed Solution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20040" y="777240"/>
            <a:ext cx="1188720" cy="91440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22960"/>
            <a:ext cx="438912" cy="4389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" y="1298448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📸 Image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1527048" y="1234440"/>
            <a:ext cx="21945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1764792" y="777240"/>
            <a:ext cx="1188720" cy="91440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552" y="822960"/>
            <a:ext cx="438912" cy="4389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64792" y="1298448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 Vision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971800" y="1234440"/>
            <a:ext cx="21945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3209544" y="777240"/>
            <a:ext cx="1188720" cy="914400"/>
          </a:xfrm>
          <a:prstGeom prst="rect">
            <a:avLst/>
          </a:prstGeom>
          <a:solidFill>
            <a:srgbClr val="111F3A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822960"/>
            <a:ext cx="438912" cy="4389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209544" y="1298448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📚 RAG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416552" y="1234440"/>
            <a:ext cx="21945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4654296" y="777240"/>
            <a:ext cx="1188720" cy="91440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56" y="822960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54296" y="1298448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LLM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5861304" y="1234440"/>
            <a:ext cx="21945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6099048" y="777240"/>
            <a:ext cx="1188720" cy="91440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808" y="822960"/>
            <a:ext cx="438912" cy="43891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099048" y="1298448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DSS</a:t>
            </a:r>
            <a:endParaRPr lang="en-US" sz="1100" dirty="0"/>
          </a:p>
        </p:txBody>
      </p:sp>
      <p:sp>
        <p:nvSpPr>
          <p:cNvPr id="23" name="Shape 15"/>
          <p:cNvSpPr/>
          <p:nvPr/>
        </p:nvSpPr>
        <p:spPr>
          <a:xfrm>
            <a:off x="7306056" y="1234440"/>
            <a:ext cx="219456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7543800" y="777240"/>
            <a:ext cx="1188720" cy="914400"/>
          </a:xfrm>
          <a:prstGeom prst="rect">
            <a:avLst/>
          </a:prstGeom>
          <a:solidFill>
            <a:srgbClr val="111F3A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822960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543800" y="1298448"/>
            <a:ext cx="1188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 Report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320040" y="1920240"/>
            <a:ext cx="2011680" cy="1783080"/>
          </a:xfrm>
          <a:prstGeom prst="rect">
            <a:avLst/>
          </a:prstGeom>
          <a:solidFill>
            <a:srgbClr val="111F3A"/>
          </a:solidFill>
          <a:ln w="127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320040" y="192024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192" y="2029968"/>
            <a:ext cx="347472" cy="34747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93192" y="2423160"/>
            <a:ext cx="1874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Zero-Hallucination RAG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393192" y="2852928"/>
            <a:ext cx="18745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LLM responses grounded in verified ChromaDB knowledge — no invented pesticides or dosages.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2468880" y="1920240"/>
            <a:ext cx="2011680" cy="1783080"/>
          </a:xfrm>
          <a:prstGeom prst="rect">
            <a:avLst/>
          </a:prstGeom>
          <a:solidFill>
            <a:srgbClr val="111F3A"/>
          </a:solidFill>
          <a:ln w="127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3"/>
          <p:cNvSpPr/>
          <p:nvPr/>
        </p:nvSpPr>
        <p:spPr>
          <a:xfrm>
            <a:off x="2468880" y="1920240"/>
            <a:ext cx="2011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2032" y="2029968"/>
            <a:ext cx="347472" cy="34747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2542032" y="2423160"/>
            <a:ext cx="1874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Simulation-Augmented DSS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2542032" y="2852928"/>
            <a:ext cx="18745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SIR epidemiological model compares 3 intervention strategies over 30 simulated days.</a:t>
            </a:r>
            <a:endParaRPr lang="en-US" sz="1050" dirty="0"/>
          </a:p>
        </p:txBody>
      </p:sp>
      <p:sp>
        <p:nvSpPr>
          <p:cNvPr id="37" name="Shape 26"/>
          <p:cNvSpPr/>
          <p:nvPr/>
        </p:nvSpPr>
        <p:spPr>
          <a:xfrm>
            <a:off x="4617720" y="1920240"/>
            <a:ext cx="2011680" cy="1783080"/>
          </a:xfrm>
          <a:prstGeom prst="rect">
            <a:avLst/>
          </a:prstGeom>
          <a:solidFill>
            <a:srgbClr val="111F3A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7"/>
          <p:cNvSpPr/>
          <p:nvPr/>
        </p:nvSpPr>
        <p:spPr>
          <a:xfrm>
            <a:off x="4617720" y="192024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0872" y="2029968"/>
            <a:ext cx="347472" cy="34747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4690872" y="2423160"/>
            <a:ext cx="1874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GAN-Based Class Balancing</a:t>
            </a:r>
            <a:endParaRPr lang="en-US" sz="1200" dirty="0"/>
          </a:p>
        </p:txBody>
      </p:sp>
      <p:sp>
        <p:nvSpPr>
          <p:cNvPr id="41" name="Text 29"/>
          <p:cNvSpPr/>
          <p:nvPr/>
        </p:nvSpPr>
        <p:spPr>
          <a:xfrm>
            <a:off x="4690872" y="2852928"/>
            <a:ext cx="18745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DCGAN generates 1,400 synthetic images for 7 underrepresented disease classes.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6766560" y="1920240"/>
            <a:ext cx="2011680" cy="1783080"/>
          </a:xfrm>
          <a:prstGeom prst="rect">
            <a:avLst/>
          </a:prstGeom>
          <a:solidFill>
            <a:srgbClr val="111F3A"/>
          </a:solidFill>
          <a:ln w="127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1"/>
          <p:cNvSpPr/>
          <p:nvPr/>
        </p:nvSpPr>
        <p:spPr>
          <a:xfrm>
            <a:off x="6766560" y="1920240"/>
            <a:ext cx="201168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9712" y="2029968"/>
            <a:ext cx="347472" cy="347472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6839712" y="2423160"/>
            <a:ext cx="1874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Microservice Architecture</a:t>
            </a:r>
            <a:endParaRPr lang="en-US" sz="1200" dirty="0"/>
          </a:p>
        </p:txBody>
      </p:sp>
      <p:sp>
        <p:nvSpPr>
          <p:cNvPr id="46" name="Text 33"/>
          <p:cNvSpPr/>
          <p:nvPr/>
        </p:nvSpPr>
        <p:spPr>
          <a:xfrm>
            <a:off x="6839712" y="2852928"/>
            <a:ext cx="1874520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+ Streamlit + Docker containerization — one-command startup.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System Architecture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566160" y="777240"/>
            <a:ext cx="2011680" cy="566928"/>
          </a:xfrm>
          <a:prstGeom prst="rect">
            <a:avLst/>
          </a:prstGeom>
          <a:solidFill>
            <a:srgbClr val="111F3A"/>
          </a:solidFill>
          <a:ln w="25400">
            <a:solidFill>
              <a:srgbClr val="F8FAFC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639312" y="822960"/>
            <a:ext cx="1874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🧑‍🌾 FARMER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639312" y="1161288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/ REST API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108960" y="1600200"/>
            <a:ext cx="2926080" cy="68580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167335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11296" y="1645920"/>
            <a:ext cx="24688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SERVER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182112" y="1984248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 8000 — Orchestrator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0" y="1344168"/>
            <a:ext cx="0" cy="256032"/>
          </a:xfrm>
          <a:prstGeom prst="line">
            <a:avLst/>
          </a:prstGeom>
          <a:noFill/>
          <a:ln w="19050">
            <a:solidFill>
              <a:srgbClr val="22C55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0040" y="2606040"/>
            <a:ext cx="2468880" cy="82296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67919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" y="2651760"/>
            <a:ext cx="2011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ENGINE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93192" y="2990088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ResNet-50 (PyTorch)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337560" y="2606040"/>
            <a:ext cx="2468880" cy="822960"/>
          </a:xfrm>
          <a:prstGeom prst="rect">
            <a:avLst/>
          </a:prstGeom>
          <a:solidFill>
            <a:srgbClr val="111F3A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2679192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739896" y="2651760"/>
            <a:ext cx="2011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ENGINE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410712" y="2990088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 + Llama 3.3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355080" y="2606040"/>
            <a:ext cx="2468880" cy="82296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2679192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57416" y="2651760"/>
            <a:ext cx="20116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 ENGINE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428232" y="2990088"/>
            <a:ext cx="2331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SIR Model (20×20)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554480" y="2286000"/>
            <a:ext cx="1645920" cy="320040"/>
          </a:xfrm>
          <a:prstGeom prst="line">
            <a:avLst/>
          </a:prstGeom>
          <a:noFill/>
          <a:ln w="19050">
            <a:solidFill>
              <a:srgbClr val="22C55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572000" y="2286000"/>
            <a:ext cx="0" cy="320040"/>
          </a:xfrm>
          <a:prstGeom prst="line">
            <a:avLst/>
          </a:prstGeom>
          <a:noFill/>
          <a:ln w="19050">
            <a:solidFill>
              <a:srgbClr val="22C55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943600" y="2286000"/>
            <a:ext cx="1645920" cy="320040"/>
          </a:xfrm>
          <a:prstGeom prst="line">
            <a:avLst/>
          </a:prstGeom>
          <a:noFill/>
          <a:ln w="19050">
            <a:solidFill>
              <a:srgbClr val="22C55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3108960" y="2286000"/>
            <a:ext cx="292608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3108960" y="3703320"/>
            <a:ext cx="2926080" cy="68580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2112" y="3776472"/>
            <a:ext cx="292608" cy="2926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511296" y="3749040"/>
            <a:ext cx="24688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DSS ENGINE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3182112" y="4087368"/>
            <a:ext cx="2788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Weighted Scoring &amp; Ranking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1554480" y="3429000"/>
            <a:ext cx="1920240" cy="338328"/>
          </a:xfrm>
          <a:prstGeom prst="line">
            <a:avLst/>
          </a:prstGeom>
          <a:noFill/>
          <a:ln w="19050">
            <a:solidFill>
              <a:srgbClr val="22C55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4572000" y="3429000"/>
            <a:ext cx="0" cy="274320"/>
          </a:xfrm>
          <a:prstGeom prst="line">
            <a:avLst/>
          </a:prstGeom>
          <a:noFill/>
          <a:ln w="19050">
            <a:solidFill>
              <a:srgbClr val="22C55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5669280" y="3429000"/>
            <a:ext cx="1920240" cy="338328"/>
          </a:xfrm>
          <a:prstGeom prst="line">
            <a:avLst/>
          </a:prstGeom>
          <a:noFill/>
          <a:ln w="19050">
            <a:solidFill>
              <a:srgbClr val="22C55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3429000" y="4572000"/>
            <a:ext cx="2286000" cy="45720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2152" y="4645152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831336" y="4617720"/>
            <a:ext cx="1828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DASHBOARD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3502152" y="4956048"/>
            <a:ext cx="2148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 8501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572000" y="4389120"/>
            <a:ext cx="0" cy="182880"/>
          </a:xfrm>
          <a:prstGeom prst="line">
            <a:avLst/>
          </a:prstGeom>
          <a:noFill/>
          <a:ln w="19050">
            <a:solidFill>
              <a:srgbClr val="22C55E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Dataset Pipeline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3977640" cy="146304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11480" y="777240"/>
            <a:ext cx="397764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" y="7772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PlantVillage  (spMohanty)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18872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27,335 images  •  38 classes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508760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Lab-quality, controlled lighting, uniform backgrounds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777240"/>
            <a:ext cx="3977640" cy="146304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09160" y="777240"/>
            <a:ext cx="397764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00600" y="7772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PlantDoc  (pratikkayal)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1,524 images  •  28 classes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00600" y="1508760"/>
            <a:ext cx="3749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field images, natural variation, complex backgrounds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2423160"/>
            <a:ext cx="5029200" cy="320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11480" y="2423160"/>
            <a:ext cx="329184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" y="2423160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77240" y="2423160"/>
            <a:ext cx="4617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21 target classes: Apple, Corn, Potato, Tomato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11480" y="2807208"/>
            <a:ext cx="5029200" cy="320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1480" y="2807208"/>
            <a:ext cx="329184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1480" y="2807208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" y="2807208"/>
            <a:ext cx="4617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PlantDoc folders → PlantVillage class names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11480" y="3191256"/>
            <a:ext cx="5029200" cy="320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11480" y="3191256"/>
            <a:ext cx="329184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11480" y="3191256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77240" y="3191256"/>
            <a:ext cx="4617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 with prefix tags (pv_ / wild_)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11480" y="3575304"/>
            <a:ext cx="5029200" cy="3200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11480" y="3575304"/>
            <a:ext cx="329184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11480" y="3575304"/>
            <a:ext cx="329184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77240" y="3575304"/>
            <a:ext cx="4617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 augmentation for classes &lt; 1,000 images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577840" y="2331720"/>
            <a:ext cx="3154680" cy="237744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669280" y="242316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Dataset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669280" y="2852928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949440" y="2852928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24,207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909560" y="2852928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69280" y="3282696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949440" y="3282696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3,025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909560" y="3282696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10%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669280" y="3712464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949440" y="3712464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3,027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909560" y="3712464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10%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5669280" y="4142232"/>
            <a:ext cx="1280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949440" y="4142232"/>
            <a:ext cx="914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30,259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7909560" y="4142232"/>
            <a:ext cx="731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 classes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DCGAN — Synthetic Data Generation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4114800" cy="914400"/>
          </a:xfrm>
          <a:prstGeom prst="rect">
            <a:avLst/>
          </a:prstGeom>
          <a:solidFill>
            <a:srgbClr val="111F3A"/>
          </a:solidFill>
          <a:ln w="2540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2920" y="804672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Class Imbalance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152144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Tomato Yellow Leaf Curl: 5,433   vs   Potato Healthy: 152  =  36× gap!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874520"/>
            <a:ext cx="1828800" cy="1188720"/>
          </a:xfrm>
          <a:prstGeom prst="rect">
            <a:avLst/>
          </a:prstGeom>
          <a:solidFill>
            <a:srgbClr val="0D1A30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874520"/>
            <a:ext cx="1828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(4× TransConv)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2395728"/>
            <a:ext cx="1828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Noise (100)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Embed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40280" y="2468880"/>
            <a:ext cx="64008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07792" y="2286000"/>
            <a:ext cx="914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64×64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Leaf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07792" y="2514600"/>
            <a:ext cx="0" cy="50292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286000" y="3017520"/>
            <a:ext cx="1828800" cy="1097280"/>
          </a:xfrm>
          <a:prstGeom prst="rect">
            <a:avLst/>
          </a:prstGeom>
          <a:solidFill>
            <a:srgbClr val="0D1A3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286000" y="3017520"/>
            <a:ext cx="18288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DISCRIMINATOR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(4× Conv2D)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/ Fake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3017520"/>
            <a:ext cx="1828800" cy="640080"/>
          </a:xfrm>
          <a:prstGeom prst="rect">
            <a:avLst/>
          </a:prstGeom>
          <a:solidFill>
            <a:srgbClr val="0D1A30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" y="301752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Leaves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40280" y="3337560"/>
            <a:ext cx="73152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11480" y="4224528"/>
            <a:ext cx="4114800" cy="502920"/>
          </a:xfrm>
          <a:prstGeom prst="rect">
            <a:avLst/>
          </a:prstGeom>
          <a:solidFill>
            <a:srgbClr val="0D1A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4279392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Training: 30 epochs  ·  Adam lr=2e-4  ·  Batch=64  ·  T4 GPU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777240"/>
            <a:ext cx="246888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00600" y="777240"/>
            <a:ext cx="23957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69480" y="777240"/>
            <a:ext cx="91440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315200" y="777240"/>
            <a:ext cx="8412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229600" y="777240"/>
            <a:ext cx="82296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275320" y="777240"/>
            <a:ext cx="7498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1234440"/>
            <a:ext cx="246888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00600" y="1234440"/>
            <a:ext cx="23957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Apple — Apple Scab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269480" y="1234440"/>
            <a:ext cx="91440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315200" y="1234440"/>
            <a:ext cx="8412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723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229600" y="1234440"/>
            <a:ext cx="82296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275320" y="1234440"/>
            <a:ext cx="7498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923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754880" y="1691640"/>
            <a:ext cx="246888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00600" y="1691640"/>
            <a:ext cx="23957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Potato — Healthy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269480" y="1691640"/>
            <a:ext cx="91440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315200" y="1691640"/>
            <a:ext cx="8412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152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8229600" y="1691640"/>
            <a:ext cx="82296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275320" y="1691640"/>
            <a:ext cx="7498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352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754880" y="2148840"/>
            <a:ext cx="246888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00600" y="2148840"/>
            <a:ext cx="23957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Tomato — Leaf Mold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7269480" y="2148840"/>
            <a:ext cx="91440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7315200" y="2148840"/>
            <a:ext cx="8412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952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8229600" y="2148840"/>
            <a:ext cx="82296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8275320" y="2148840"/>
            <a:ext cx="7498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1,152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4754880" y="2606040"/>
            <a:ext cx="246888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800600" y="2606040"/>
            <a:ext cx="23957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Tomato — Mosaic Virus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7269480" y="2606040"/>
            <a:ext cx="91440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7315200" y="2606040"/>
            <a:ext cx="8412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427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8229600" y="2606040"/>
            <a:ext cx="82296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275320" y="2606040"/>
            <a:ext cx="7498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627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4754880" y="3063240"/>
            <a:ext cx="246888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800600" y="3063240"/>
            <a:ext cx="239572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+ 3 more classes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7269480" y="3063240"/>
            <a:ext cx="91440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7315200" y="3063240"/>
            <a:ext cx="84124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8229600" y="3063240"/>
            <a:ext cx="822960" cy="420624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8275320" y="3063240"/>
            <a:ext cx="749808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+200 ea.</a:t>
            </a:r>
            <a:endParaRPr lang="en-US" sz="1150" dirty="0"/>
          </a:p>
        </p:txBody>
      </p:sp>
      <p:sp>
        <p:nvSpPr>
          <p:cNvPr id="56" name="Text 53"/>
          <p:cNvSpPr/>
          <p:nvPr/>
        </p:nvSpPr>
        <p:spPr>
          <a:xfrm>
            <a:off x="4754880" y="3611880"/>
            <a:ext cx="4114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1,400 synthetic images generated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ResNet-50 — Vision Model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11480" y="804672"/>
            <a:ext cx="4023360" cy="210312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2920" y="84124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23444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ResNet-50  (ImageNet1K_V2 pretrained)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02920" y="161848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Frozen backbone  →  2048-dim features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02920" y="2002536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Linear(2048 → 512) → ReLU → BatchNorm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386584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Dropout(0.5) → Linear(512 → 21)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" y="3017520"/>
            <a:ext cx="4023360" cy="16916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306324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Configuration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3474720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Optimizer: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737360" y="3474720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AdamW  lr=0.001  wd=0.01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02920" y="3721608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737360" y="3721608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CrossEntropyLoss (label_smoothing=0.1)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3968496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Scheduler: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737360" y="3968496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ReduceLROnPlateau (factor=0.1)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4215384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/ Image: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737360" y="4215384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  ·  224×224×3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" y="4462272"/>
            <a:ext cx="1188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/ Time: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737360" y="4462272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NVIDIA T4  ·  ~55 min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09160" y="804672"/>
            <a:ext cx="4023360" cy="3904488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00600" y="841248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00600" y="1261872"/>
            <a:ext cx="3840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90.91%</a:t>
            </a:r>
            <a:endParaRPr lang="en-US" sz="5600" dirty="0"/>
          </a:p>
        </p:txBody>
      </p:sp>
      <p:sp>
        <p:nvSpPr>
          <p:cNvPr id="25" name="Text 22"/>
          <p:cNvSpPr/>
          <p:nvPr/>
        </p:nvSpPr>
        <p:spPr>
          <a:xfrm>
            <a:off x="4800600" y="2121408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Validation Accuracy  (Epoch 14)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800600" y="2578608"/>
            <a:ext cx="3840480" cy="420624"/>
          </a:xfrm>
          <a:prstGeom prst="rect">
            <a:avLst/>
          </a:prstGeom>
          <a:solidFill>
            <a:srgbClr val="0D1A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92040" y="2578608"/>
            <a:ext cx="2286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 Loss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406640" y="2578608"/>
            <a:ext cx="1143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0.9063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800600" y="3063240"/>
            <a:ext cx="3840480" cy="420624"/>
          </a:xfrm>
          <a:prstGeom prst="rect">
            <a:avLst/>
          </a:prstGeom>
          <a:solidFill>
            <a:srgbClr val="0D1A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92040" y="3063240"/>
            <a:ext cx="2286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Accuracy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406640" y="3063240"/>
            <a:ext cx="1143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87.83%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800600" y="3547872"/>
            <a:ext cx="3840480" cy="420624"/>
          </a:xfrm>
          <a:prstGeom prst="rect">
            <a:avLst/>
          </a:prstGeom>
          <a:solidFill>
            <a:srgbClr val="0D1A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92040" y="3547872"/>
            <a:ext cx="2286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Overfit Gap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7406640" y="3547872"/>
            <a:ext cx="1143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+2.96%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4800600" y="4032504"/>
            <a:ext cx="3840480" cy="420624"/>
          </a:xfrm>
          <a:prstGeom prst="rect">
            <a:avLst/>
          </a:prstGeom>
          <a:solidFill>
            <a:srgbClr val="0D1A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892040" y="4032504"/>
            <a:ext cx="2286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Size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7406640" y="4032504"/>
            <a:ext cx="11430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97.8 MB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800600" y="45720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Validation &gt; Training → NO overfitting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Pipeline — Eliminating Hallucination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20040" y="777240"/>
            <a:ext cx="2377440" cy="1005840"/>
          </a:xfrm>
          <a:prstGeom prst="rect">
            <a:avLst/>
          </a:prstGeom>
          <a:solidFill>
            <a:srgbClr val="111F3A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85039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088" y="832104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11480" y="1179576"/>
            <a:ext cx="22128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 verified records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crop_data.json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706624" y="1280160"/>
            <a:ext cx="5486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264408" y="777240"/>
            <a:ext cx="2194560" cy="1005840"/>
          </a:xfrm>
          <a:prstGeom prst="rect">
            <a:avLst/>
          </a:prstGeom>
          <a:solidFill>
            <a:srgbClr val="111F3A"/>
          </a:solidFill>
          <a:ln w="1905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85039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48456" y="832104"/>
            <a:ext cx="1737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 Model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355848" y="1179576"/>
            <a:ext cx="202996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all-MiniLM-L6-v2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Sentence Transformers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468112" y="1280160"/>
            <a:ext cx="54864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035040" y="777240"/>
            <a:ext cx="2788920" cy="1005840"/>
          </a:xfrm>
          <a:prstGeom prst="rect">
            <a:avLst/>
          </a:prstGeom>
          <a:solidFill>
            <a:srgbClr val="111F3A"/>
          </a:solidFill>
          <a:ln w="1905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85039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19088" y="832104"/>
            <a:ext cx="2331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126480" y="1179576"/>
            <a:ext cx="262432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Store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Persistent + Cosine Sim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20040" y="2011680"/>
            <a:ext cx="1920240" cy="502920"/>
          </a:xfrm>
          <a:prstGeom prst="rect">
            <a:avLst/>
          </a:prstGeom>
          <a:solidFill>
            <a:srgbClr val="0D1A30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3"/>
          <p:cNvSpPr/>
          <p:nvPr/>
        </p:nvSpPr>
        <p:spPr>
          <a:xfrm>
            <a:off x="320040" y="2011680"/>
            <a:ext cx="19202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"Tomato blight" Query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2240280" y="2258568"/>
            <a:ext cx="91440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3182112" y="2011680"/>
            <a:ext cx="2331720" cy="502920"/>
          </a:xfrm>
          <a:prstGeom prst="rect">
            <a:avLst/>
          </a:prstGeom>
          <a:solidFill>
            <a:srgbClr val="0D1A30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3182112" y="2011680"/>
            <a:ext cx="23317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Search (Cosine Similarity)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513832" y="2258568"/>
            <a:ext cx="914400" cy="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320040" y="2651760"/>
            <a:ext cx="5760720" cy="1097280"/>
          </a:xfrm>
          <a:prstGeom prst="rect">
            <a:avLst/>
          </a:prstGeom>
          <a:solidFill>
            <a:srgbClr val="111F3A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11480" y="2679192"/>
            <a:ext cx="5577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Retrieved Context (Top-1):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11480" y="2999232"/>
            <a:ext cx="5577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"Early Blight: Dark concentric spots on lower leaves. Apply Copper-based fungicides. Remove infected foliage. Mulch to prevent soil-to-leaf contact."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080760" y="2011680"/>
            <a:ext cx="2697480" cy="1783080"/>
          </a:xfrm>
          <a:prstGeom prst="rect">
            <a:avLst/>
          </a:prstGeom>
          <a:solidFill>
            <a:srgbClr val="111F3A"/>
          </a:solidFill>
          <a:ln w="1905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084832"/>
            <a:ext cx="320040" cy="32004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537960" y="2084832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Llama 3.3 70B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6172200" y="2450592"/>
            <a:ext cx="2514600" cy="12618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LPU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Temp: 0.3 (factual)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Persona: Sr. Agricultural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 (20yr)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20040" y="3913632"/>
            <a:ext cx="8503920" cy="566928"/>
          </a:xfrm>
          <a:prstGeom prst="rect">
            <a:avLst/>
          </a:prstGeom>
          <a:solidFill>
            <a:srgbClr val="163830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86784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2960" y="3950208"/>
            <a:ext cx="7863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 ZERO HALLUCINATION — All advice grounded in verified ChromaDB knowledge base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SIR Simulation Engine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5212080" cy="822960"/>
          </a:xfrm>
          <a:prstGeom prst="rect">
            <a:avLst/>
          </a:prstGeom>
          <a:solidFill>
            <a:srgbClr val="111F3A"/>
          </a:solidFill>
          <a:ln w="1905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2920" y="804672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Spatially Explicit SIR Model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152144"/>
            <a:ext cx="5029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20×20 grid  ·  SUSCEPTIBLE → INFECTED → REMOVED  ·  Moore neighborhood (8 neighbors)  ·  30 days  ·  3 infected cells at center (Day 0)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11480" y="1755648"/>
            <a:ext cx="5212080" cy="192024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792224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Disease-Specific Transmission Rates (β)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212848"/>
            <a:ext cx="2743200" cy="182880"/>
          </a:xfrm>
          <a:prstGeom prst="rect">
            <a:avLst/>
          </a:prstGeom>
          <a:solidFill>
            <a:srgbClr val="0D1A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2920" y="2212848"/>
            <a:ext cx="2493818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10128" y="2194560"/>
            <a:ext cx="1463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Potato Late Blight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09744" y="2194560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β=0.50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2450592"/>
            <a:ext cx="2743200" cy="182880"/>
          </a:xfrm>
          <a:prstGeom prst="rect">
            <a:avLst/>
          </a:prstGeom>
          <a:solidFill>
            <a:srgbClr val="0D1A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02920" y="2450592"/>
            <a:ext cx="2244436" cy="182880"/>
          </a:xfrm>
          <a:prstGeom prst="rect">
            <a:avLst/>
          </a:prstGeom>
          <a:solidFill>
            <a:srgbClr val="EF6C6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10128" y="2432304"/>
            <a:ext cx="1463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Tomato Late Blight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09744" y="2432304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6C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β=0.45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2688336"/>
            <a:ext cx="2743200" cy="182880"/>
          </a:xfrm>
          <a:prstGeom prst="rect">
            <a:avLst/>
          </a:prstGeom>
          <a:solidFill>
            <a:srgbClr val="0D1A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02920" y="2688336"/>
            <a:ext cx="1745673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10128" y="2670048"/>
            <a:ext cx="1463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Corn Northern Leaf Blight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09744" y="2670048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β=0.35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02920" y="2926080"/>
            <a:ext cx="2743200" cy="182880"/>
          </a:xfrm>
          <a:prstGeom prst="rect">
            <a:avLst/>
          </a:prstGeom>
          <a:solidFill>
            <a:srgbClr val="0D1A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02920" y="2926080"/>
            <a:ext cx="1596044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310128" y="2907792"/>
            <a:ext cx="1463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Corn Common Rust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09744" y="2907792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β=0.32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3163824"/>
            <a:ext cx="2743200" cy="182880"/>
          </a:xfrm>
          <a:prstGeom prst="rect">
            <a:avLst/>
          </a:prstGeom>
          <a:solidFill>
            <a:srgbClr val="0D1A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02920" y="3163824"/>
            <a:ext cx="1496291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310128" y="3145536"/>
            <a:ext cx="1463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Tomato Early Blight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09744" y="3145536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β=0.30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02920" y="3401568"/>
            <a:ext cx="2743200" cy="182880"/>
          </a:xfrm>
          <a:prstGeom prst="rect">
            <a:avLst/>
          </a:prstGeom>
          <a:solidFill>
            <a:srgbClr val="0D1A3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502920" y="3401568"/>
            <a:ext cx="1246909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310128" y="3383280"/>
            <a:ext cx="146304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(other diseases)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09744" y="3383280"/>
            <a:ext cx="7315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β=0.25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760720" y="777240"/>
            <a:ext cx="3017520" cy="1188720"/>
          </a:xfrm>
          <a:prstGeom prst="rect">
            <a:avLst/>
          </a:prstGeom>
          <a:solidFill>
            <a:srgbClr val="111F3A"/>
          </a:solidFill>
          <a:ln w="2540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760720" y="777240"/>
            <a:ext cx="301752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813816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144768" y="7772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INTERVENTION</a:t>
            </a:r>
            <a:endParaRPr lang="en-US" sz="1150" dirty="0"/>
          </a:p>
        </p:txBody>
      </p:sp>
      <p:sp>
        <p:nvSpPr>
          <p:cNvPr id="37" name="Text 33"/>
          <p:cNvSpPr/>
          <p:nvPr/>
        </p:nvSpPr>
        <p:spPr>
          <a:xfrm>
            <a:off x="5833872" y="1188720"/>
            <a:ext cx="2834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disease progression — baseline for comparison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5760720" y="2148840"/>
            <a:ext cx="3017520" cy="1188720"/>
          </a:xfrm>
          <a:prstGeom prst="rect">
            <a:avLst/>
          </a:prstGeom>
          <a:solidFill>
            <a:srgbClr val="111F3A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5760720" y="2148840"/>
            <a:ext cx="30175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2185416"/>
            <a:ext cx="274320" cy="27432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144768" y="21488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PESTICIDE APP.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5833872" y="2560320"/>
            <a:ext cx="2834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β reduced to 30% of original — broad-spectrum fungicide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760720" y="3520440"/>
            <a:ext cx="3017520" cy="118872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5760720" y="3520440"/>
            <a:ext cx="301752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3557016"/>
            <a:ext cx="274320" cy="274320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6144768" y="352044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QUARANTINE</a:t>
            </a:r>
            <a:endParaRPr lang="en-US" sz="1150" dirty="0"/>
          </a:p>
        </p:txBody>
      </p:sp>
      <p:sp>
        <p:nvSpPr>
          <p:cNvPr id="47" name="Text 41"/>
          <p:cNvSpPr/>
          <p:nvPr/>
        </p:nvSpPr>
        <p:spPr>
          <a:xfrm>
            <a:off x="5833872" y="3931920"/>
            <a:ext cx="2834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all cells within radius 2 — physical crop removal firebreak</a:t>
            </a:r>
            <a:endParaRPr lang="en-US" sz="1100" dirty="0"/>
          </a:p>
        </p:txBody>
      </p:sp>
      <p:graphicFrame>
        <p:nvGraphicFramePr>
          <p:cNvPr id="48" name="Chart 0"/>
          <p:cNvGraphicFramePr/>
          <p:nvPr/>
        </p:nvGraphicFramePr>
        <p:xfrm>
          <a:off x="411480" y="3794760"/>
          <a:ext cx="832104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 Support System (DSS)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11480" y="777240"/>
            <a:ext cx="8321040" cy="114300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2920" y="804672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DSS Scoring Formula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1143000"/>
            <a:ext cx="8138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Score = (Crop_Loss × 0.60)  −  (Confidence × 0.25)  −  (RAG_Relevance × 0.15)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1554480"/>
            <a:ext cx="8138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 SCORE = BETTER INTERVENTION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" y="2084832"/>
            <a:ext cx="2697480" cy="1143000"/>
          </a:xfrm>
          <a:prstGeom prst="rect">
            <a:avLst/>
          </a:prstGeom>
          <a:solidFill>
            <a:srgbClr val="111F3A"/>
          </a:solidFill>
          <a:ln w="25400">
            <a:solidFill>
              <a:srgbClr val="EF4444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2084832"/>
            <a:ext cx="2697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02920" y="269748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 Loss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2999232"/>
            <a:ext cx="2514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objective — minimize yield loss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2084832"/>
            <a:ext cx="2697480" cy="1143000"/>
          </a:xfrm>
          <a:prstGeom prst="rect">
            <a:avLst/>
          </a:prstGeom>
          <a:solidFill>
            <a:srgbClr val="111F3A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46120" y="2084832"/>
            <a:ext cx="2697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25%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3337560" y="269748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37560" y="2999232"/>
            <a:ext cx="2514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Penalize uncertain model predictions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2084832"/>
            <a:ext cx="2697480" cy="114300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80760" y="2084832"/>
            <a:ext cx="2697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15%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6172200" y="2697480"/>
            <a:ext cx="2514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Quality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72200" y="2999232"/>
            <a:ext cx="2514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Reward well-grounded recommendations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3337560"/>
            <a:ext cx="3383280" cy="114300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3364992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 Classification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" y="3749040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HIGH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463040" y="3749040"/>
            <a:ext cx="2240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 ≥ 80% AND Peak ≥ 40%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2920" y="3995928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🟡 MEDIUM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463040" y="3995928"/>
            <a:ext cx="2240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Either condition met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02920" y="4242816"/>
            <a:ext cx="9144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🟢 LOW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463040" y="4242816"/>
            <a:ext cx="2240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Neither condition met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977640" y="3310128"/>
            <a:ext cx="4754880" cy="1170432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069080" y="3337560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Tomato Early Blight  94% confidence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977640" y="3749040"/>
            <a:ext cx="4754880" cy="228600"/>
          </a:xfrm>
          <a:prstGeom prst="rect">
            <a:avLst/>
          </a:prstGeom>
          <a:solidFill>
            <a:srgbClr val="163A26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023360" y="3749040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 ← BEST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166360" y="3749040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Pesticide App.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583680" y="3749040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28%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452360" y="3749040"/>
            <a:ext cx="731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0.145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977640" y="3995928"/>
            <a:ext cx="4754880" cy="228600"/>
          </a:xfrm>
          <a:prstGeom prst="rect">
            <a:avLst/>
          </a:prstGeom>
          <a:solidFill>
            <a:srgbClr val="0D1A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023360" y="3995928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#2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166360" y="3995928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Quarantine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583680" y="3995928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41%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452360" y="3995928"/>
            <a:ext cx="731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0.248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977640" y="4242816"/>
            <a:ext cx="4754880" cy="228600"/>
          </a:xfrm>
          <a:prstGeom prst="rect">
            <a:avLst/>
          </a:prstGeom>
          <a:solidFill>
            <a:srgbClr val="0D1A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023360" y="4242816"/>
            <a:ext cx="1097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#3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166360" y="4242816"/>
            <a:ext cx="13716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Intervention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583680" y="4242816"/>
            <a:ext cx="822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62%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452360" y="4242816"/>
            <a:ext cx="7315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Dashboard — UI/UX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20040" y="804672"/>
            <a:ext cx="13716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20040" y="804672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 Analyse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755648" y="804672"/>
            <a:ext cx="1371600" cy="384048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755648" y="804672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Chatbot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91256" y="804672"/>
            <a:ext cx="1371600" cy="384048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91256" y="804672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Simulation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26864" y="804672"/>
            <a:ext cx="1371600" cy="384048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26864" y="804672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 DSS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62472" y="804672"/>
            <a:ext cx="1371600" cy="384048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62472" y="804672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🎨 GAN Data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98080" y="804672"/>
            <a:ext cx="1371600" cy="384048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498080" y="804672"/>
            <a:ext cx="1371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📖 About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1325880"/>
            <a:ext cx="3108960" cy="33832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02920" y="1508760"/>
            <a:ext cx="2743200" cy="2011680"/>
          </a:xfrm>
          <a:prstGeom prst="rect">
            <a:avLst/>
          </a:prstGeom>
          <a:solidFill>
            <a:srgbClr val="0D1A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1371600" y="1920240"/>
            <a:ext cx="1005840" cy="10058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02920" y="30175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🍃 Upload Leaf Image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85800" y="3703320"/>
            <a:ext cx="237744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85800" y="37033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Initialize Deep Scan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566160" y="1325880"/>
            <a:ext cx="5166360" cy="3383280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3703320" y="1463040"/>
            <a:ext cx="128016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703320" y="1463040"/>
            <a:ext cx="1280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HIGH URGENCY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074920" y="1463040"/>
            <a:ext cx="3566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Tomato — Early Blight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3703320" y="196596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Confidence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703320" y="2267712"/>
            <a:ext cx="4937760" cy="182880"/>
          </a:xfrm>
          <a:prstGeom prst="rect">
            <a:avLst/>
          </a:prstGeom>
          <a:solidFill>
            <a:srgbClr val="0D1A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3703320" y="2267712"/>
            <a:ext cx="4641494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8229600" y="222199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94%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3703320" y="2606040"/>
            <a:ext cx="4937760" cy="1600200"/>
          </a:xfrm>
          <a:prstGeom prst="rect">
            <a:avLst/>
          </a:prstGeom>
          <a:solidFill>
            <a:srgbClr val="0D1A30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3794760" y="2651760"/>
            <a:ext cx="4754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Optimised Treatment Plan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3794760" y="3017520"/>
            <a:ext cx="4754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Copper-based fungicides. Remove lower infected foliage. Mulch to prevent soil-to-leaf spread. Monitor for 7 days.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3703320" y="3913632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 Saves 34% crop loss vs. no treatment baseline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End-to-End Case Studies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20040" y="777240"/>
            <a:ext cx="2011680" cy="118872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20040" y="8229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90.91%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20040" y="14630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Val. Accuracy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1755648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21-class hybrid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68880" y="777240"/>
            <a:ext cx="2011680" cy="118872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468880" y="8229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468880" y="14630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68880" y="1755648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grounding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17720" y="777240"/>
            <a:ext cx="2011680" cy="1188720"/>
          </a:xfrm>
          <a:prstGeom prst="rect">
            <a:avLst/>
          </a:prstGeom>
          <a:solidFill>
            <a:srgbClr val="111F3A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617720" y="8229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617720" y="14630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Crop Loss Saved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17720" y="1755648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vs. no treatment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777240"/>
            <a:ext cx="2011680" cy="118872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66560" y="822960"/>
            <a:ext cx="2011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15s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766560" y="1463040"/>
            <a:ext cx="20116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Latency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55648"/>
            <a:ext cx="20116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T4 GPU end-to-end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2176272"/>
            <a:ext cx="4206240" cy="260604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20040" y="2176272"/>
            <a:ext cx="4206240" cy="365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11480" y="2176272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1 — Diseased Leaf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11480" y="2633472"/>
            <a:ext cx="777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234440" y="2633472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Tomato Septoria Leaf Spot  (94%)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11480" y="3044952"/>
            <a:ext cx="777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RAG: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234440" y="3044952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Copper / Chlorothalonil. Remove infected leaves.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11480" y="3456432"/>
            <a:ext cx="777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SIR: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234440" y="3456432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Pesticide → 28% loss  vs.  62% baseline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11480" y="3867912"/>
            <a:ext cx="777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DSS: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234440" y="3867912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1: Pesticide Application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11480" y="4279392"/>
            <a:ext cx="777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Saving: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234440" y="4279392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34% crop loss reduction vs. no treatment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663440" y="2176272"/>
            <a:ext cx="4069080" cy="137160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663440" y="2176272"/>
            <a:ext cx="406908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754880" y="2176272"/>
            <a:ext cx="3886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Case Study 2 — Healthy Leaf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754880" y="26060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Vision: Apple — Healthy  (96% confidence)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4754880" y="2944368"/>
            <a:ext cx="3840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Healthy Crop Detected — no pathogens identified.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Short-circuit path: simulation skipped.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663440" y="3675888"/>
            <a:ext cx="4069080" cy="1106424"/>
          </a:xfrm>
          <a:prstGeom prst="rect">
            <a:avLst/>
          </a:prstGeom>
          <a:solidFill>
            <a:srgbClr val="111F3A"/>
          </a:solidFill>
          <a:ln w="1905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754880" y="3703320"/>
            <a:ext cx="3886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 Augmentation Summary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754880" y="4059936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Apple Scab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086600" y="4059936"/>
            <a:ext cx="1508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723→923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754880" y="4270248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Potato Healthy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7086600" y="4270248"/>
            <a:ext cx="1508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152→352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754880" y="4480560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Tomato Leaf Mold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7086600" y="4480560"/>
            <a:ext cx="1508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952→1,152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4754880" y="4690872"/>
            <a:ext cx="22860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+ 4 more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7086600" y="4690872"/>
            <a:ext cx="15087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+200 ea.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Solutions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20040" y="804672"/>
            <a:ext cx="8503920" cy="53035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20040" y="804672"/>
            <a:ext cx="73152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804672"/>
            <a:ext cx="1920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Hallucination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423160" y="804672"/>
            <a:ext cx="2651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 pesticides → crop loss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95097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40680" y="804672"/>
            <a:ext cx="3291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+ ChromaDB grounding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1399032"/>
            <a:ext cx="8503920" cy="53035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20040" y="1399032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57200" y="1399032"/>
            <a:ext cx="1920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Imbalance 36×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423160" y="1399032"/>
            <a:ext cx="2651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bias toward majority classes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4533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1399032"/>
            <a:ext cx="3291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DCGAN generates 1,400 synthetic images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20040" y="1993392"/>
            <a:ext cx="8503920" cy="53035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320040" y="1993392"/>
            <a:ext cx="73152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457200" y="1993392"/>
            <a:ext cx="1920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Shift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2423160" y="1993392"/>
            <a:ext cx="2651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Lab→Field accuracy drop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13969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1993392"/>
            <a:ext cx="3291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dataset + augmentation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2587752"/>
            <a:ext cx="8503920" cy="53035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320040" y="2587752"/>
            <a:ext cx="73152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457200" y="2587752"/>
            <a:ext cx="1920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 Instability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2423160" y="2587752"/>
            <a:ext cx="2651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Oscillating loss values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73405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2587752"/>
            <a:ext cx="3291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arch + lr=2e-4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20040" y="3182112"/>
            <a:ext cx="8503920" cy="53035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320040" y="3182112"/>
            <a:ext cx="73152" cy="5303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457200" y="3182112"/>
            <a:ext cx="1920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Latency (Groq)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2423160" y="3182112"/>
            <a:ext cx="2651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4-8 sec LLM call overhead</a:t>
            </a:r>
            <a:endParaRPr lang="en-US" sz="11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328416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0680" y="3182112"/>
            <a:ext cx="3291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call/analysis + temp=0.3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320040" y="3776472"/>
            <a:ext cx="8503920" cy="53035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320040" y="3776472"/>
            <a:ext cx="73152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457200" y="3776472"/>
            <a:ext cx="1920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Cold Start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2423160" y="3776472"/>
            <a:ext cx="2651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5-10 sec load per request</a:t>
            </a:r>
            <a:endParaRPr lang="en-US" sz="11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922776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440680" y="3776472"/>
            <a:ext cx="3291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lifespan hook — once at startup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320040" y="4370832"/>
            <a:ext cx="8503920" cy="530352"/>
          </a:xfrm>
          <a:prstGeom prst="rect">
            <a:avLst/>
          </a:prstGeom>
          <a:solidFill>
            <a:srgbClr val="111F3A"/>
          </a:solidFill>
          <a:ln w="12700">
            <a:solidFill>
              <a:srgbClr val="1E3A5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320040" y="4370832"/>
            <a:ext cx="73152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3"/>
          <p:cNvSpPr/>
          <p:nvPr/>
        </p:nvSpPr>
        <p:spPr>
          <a:xfrm>
            <a:off x="457200" y="4370832"/>
            <a:ext cx="1920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 Path (Uvicorn)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2423160" y="4370832"/>
            <a:ext cx="265176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.env loading fails on reload</a:t>
            </a:r>
            <a:endParaRPr lang="en-US" sz="11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517136"/>
            <a:ext cx="237744" cy="237744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440680" y="4370832"/>
            <a:ext cx="3291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Absolute path resolution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320040" y="4892040"/>
            <a:ext cx="8503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Lesson: Every challenge had a principled engineering solution.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201168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320040" y="777240"/>
            <a:ext cx="2834640" cy="411480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20040" y="777240"/>
            <a:ext cx="28346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04672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2104" y="777240"/>
            <a:ext cx="2286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Short-Term  (3 months)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29768" y="137160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Transformer (ViT) comparison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9768" y="196596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Multi-label: multiple diseases per leaf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29768" y="256032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Arabic &amp; French language chatbot support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46120" y="777240"/>
            <a:ext cx="2834640" cy="4114800"/>
          </a:xfrm>
          <a:prstGeom prst="rect">
            <a:avLst/>
          </a:prstGeom>
          <a:solidFill>
            <a:srgbClr val="111F3A"/>
          </a:solidFill>
          <a:ln w="254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246120" y="777240"/>
            <a:ext cx="283464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80467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58184" y="777240"/>
            <a:ext cx="2286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Medium-Term  (6–12 months)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355848" y="137160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PWA for offline field use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355848" y="196596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IoT: soil moisture, temp &amp; humidity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355848" y="256032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AWS/GCP with auto-scaling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355848" y="315468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weather API for dynamic β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777240"/>
            <a:ext cx="2834640" cy="4114800"/>
          </a:xfrm>
          <a:prstGeom prst="rect">
            <a:avLst/>
          </a:prstGeom>
          <a:solidFill>
            <a:srgbClr val="111F3A"/>
          </a:solidFill>
          <a:ln w="254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172200" y="777240"/>
            <a:ext cx="28346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80467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84264" y="777240"/>
            <a:ext cx="2286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Directions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81928" y="137160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Grad-CAM heatmaps (Explainable AI)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281928" y="196596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Causal inference &amp; counterfactuals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281928" y="256032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Ontology-enhanced RAG (OWL + Protégé)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281928" y="315468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Federated learning for privacy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281928" y="3749040"/>
            <a:ext cx="2606040" cy="5303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Drone orthomosaic full-field scanning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320040" y="4663440"/>
            <a:ext cx="8503920" cy="411480"/>
          </a:xfrm>
          <a:prstGeom prst="rect">
            <a:avLst/>
          </a:prstGeom>
          <a:solidFill>
            <a:srgbClr val="0D1A3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411480" y="4681728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🌿  Ultimate Vision: Fully autonomous precision agriculture platform with edge deployment, multi-language support &amp; IoT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20040" y="868680"/>
            <a:ext cx="6217920" cy="777240"/>
          </a:xfrm>
          <a:prstGeom prst="rect">
            <a:avLst/>
          </a:prstGeom>
          <a:solidFill>
            <a:srgbClr val="111F3A"/>
          </a:solidFill>
          <a:ln w="127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69848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8680" y="923544"/>
            <a:ext cx="5577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Vision-RAG Fusion eliminates hallucination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68680" y="1271016"/>
            <a:ext cx="5577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 grounding guarantees verified, actionable treatment advice every time.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20040" y="1755648"/>
            <a:ext cx="6217920" cy="777240"/>
          </a:xfrm>
          <a:prstGeom prst="rect">
            <a:avLst/>
          </a:prstGeom>
          <a:solidFill>
            <a:srgbClr val="111F3A"/>
          </a:solidFill>
          <a:ln w="127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956816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1810512"/>
            <a:ext cx="5577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Simulation-augmented DSS closes the action gap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68680" y="2157984"/>
            <a:ext cx="5577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Farmers receive ranked, quantitative intervention plans — not just a diagnosis.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20040" y="2642616"/>
            <a:ext cx="6217920" cy="777240"/>
          </a:xfrm>
          <a:prstGeom prst="rect">
            <a:avLst/>
          </a:prstGeom>
          <a:solidFill>
            <a:srgbClr val="111F3A"/>
          </a:solidFill>
          <a:ln w="12700">
            <a:solidFill>
              <a:srgbClr val="F59E0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84378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2697480"/>
            <a:ext cx="5577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GAN augmentation solves class imbalance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868680" y="3044952"/>
            <a:ext cx="5577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1,400 synthetic images across 7 classes — all above 350 samples.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20040" y="3529584"/>
            <a:ext cx="6217920" cy="777240"/>
          </a:xfrm>
          <a:prstGeom prst="rect">
            <a:avLst/>
          </a:prstGeom>
          <a:solidFill>
            <a:srgbClr val="111F3A"/>
          </a:solidFill>
          <a:ln w="12700">
            <a:solidFill>
              <a:srgbClr val="14B8A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730752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3584448"/>
            <a:ext cx="5577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Microservice architecture enables deployment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868680" y="3931920"/>
            <a:ext cx="5577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+ Streamlit + Docker = one-command startup, containerized &amp; reproducible.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720840" y="804672"/>
            <a:ext cx="2057400" cy="3657600"/>
          </a:xfrm>
          <a:prstGeom prst="rect">
            <a:avLst/>
          </a:prstGeom>
          <a:solidFill>
            <a:srgbClr val="111F3A"/>
          </a:solidFill>
          <a:ln w="254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6812280" y="841248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Achievements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6812280" y="132588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90.91%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Val. Accuracy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812280" y="1847088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812280" y="2368296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Diseases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812280" y="2889504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30K+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812280" y="3410712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1,400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812280" y="3931920"/>
            <a:ext cx="1874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320040" y="4663440"/>
            <a:ext cx="8458200" cy="384048"/>
          </a:xfrm>
          <a:prstGeom prst="rect">
            <a:avLst/>
          </a:prstGeom>
          <a:solidFill>
            <a:srgbClr val="163A26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/>
          <p:nvPr/>
        </p:nvSpPr>
        <p:spPr>
          <a:xfrm>
            <a:off x="411480" y="4690872"/>
            <a:ext cx="82753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future of agriculture is intelligent, integrated, and accessible.  AgriVision AI is a step toward that future.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6858000" y="365760"/>
            <a:ext cx="2011680" cy="20116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02920"/>
            <a:ext cx="1097280" cy="10972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1691640"/>
            <a:ext cx="5943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Answers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320040" y="2423160"/>
            <a:ext cx="5943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C5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for your attention!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320040" y="2834640"/>
            <a:ext cx="59436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320040" y="3017520"/>
            <a:ext cx="6858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Repository:  </a:t>
            </a:r>
            <a:r>
              <a:rPr lang="en-US" sz="1300" dirty="0">
                <a:solidFill>
                  <a:srgbClr val="14B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github.com/youseflasheen/Vision-RAG-AgriSystem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0040" y="3401568"/>
            <a:ext cx="7772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 </a:t>
            </a: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Dr. Mohammed Al-Gunaid  ·  mohammed-gunaid@eru.edu.eg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20040" y="3785616"/>
            <a:ext cx="7772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Course:  </a:t>
            </a:r>
            <a:r>
              <a:rPr lang="en-US" sz="13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Applications — Spring 2026  ·  Egyptian Russian University (ERU)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20040" y="4480560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🌿  AgriVision AI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1790</Words>
  <Application>Microsoft Office PowerPoint</Application>
  <PresentationFormat>On-screen Show (16:9)</PresentationFormat>
  <Paragraphs>400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AgriVision AI</dc:title>
  <dc:subject>PptxGenJS Presentation</dc:subject>
  <dc:creator>Yousef Lasheen</dc:creator>
  <cp:lastModifiedBy>Akram ElNahtawy</cp:lastModifiedBy>
  <cp:revision>4</cp:revision>
  <dcterms:created xsi:type="dcterms:W3CDTF">2026-05-10T20:44:00Z</dcterms:created>
  <dcterms:modified xsi:type="dcterms:W3CDTF">2026-05-10T21:04:48Z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AEDA915D2D434ACBA608237EDC72A26C_13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2026-05-10T21:04:42Z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5b5c012f-b6d7-4bd4-abbe-8f95f56a10b1</vt:lpwstr>
  </property>
  <property fmtid="{D5CDD505-2E9C-101B-9397-08002B2CF9AE}" pid="9" name="MSIP_Label_defa4170-0d19-0005-0004-bc88714345d2_ActionId">
    <vt:lpwstr>a8019324-d3c8-41fd-aebc-30fdba5856ba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10, 3, 0, 1</vt:lpwstr>
  </property>
</Properties>
</file>